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1" d="100"/>
          <a:sy n="111" d="100"/>
        </p:scale>
        <p:origin x="53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10362895" cy="1395254"/>
          </a:xfrm>
          <a:prstGeom prst="rect">
            <a:avLst/>
          </a:prstGeom>
          <a:noFill/>
        </p:spPr>
        <p:txBody>
          <a:bodyPr wrap="square">
            <a:spAutoFit/>
          </a:bodyPr>
          <a:lstStyle/>
          <a:p>
            <a:pPr algn="ctr">
              <a:defRPr sz="1100" b="1">
                <a:solidFill>
                  <a:srgbClr val="D97B4E"/>
                </a:solidFill>
                <a:latin typeface="Helvetica Neue"/>
              </a:defRPr>
            </a:pPr>
            <a:endParaRPr dirty="0"/>
          </a:p>
          <a:p>
            <a:pPr algn="ctr">
              <a:spcBef>
                <a:spcPts val="800"/>
              </a:spcBef>
              <a:defRPr sz="4600" b="1">
                <a:solidFill>
                  <a:srgbClr val="382A24"/>
                </a:solidFill>
                <a:latin typeface="Helvetica Neue"/>
              </a:defRPr>
            </a:pPr>
            <a:r>
              <a:rPr dirty="0"/>
              <a:t>KUBEMIND</a:t>
            </a:r>
          </a:p>
          <a:p>
            <a:pPr algn="ctr">
              <a:spcBef>
                <a:spcPts val="600"/>
              </a:spcBef>
              <a:defRPr sz="1600">
                <a:solidFill>
                  <a:srgbClr val="594941"/>
                </a:solidFill>
                <a:latin typeface="Helvetica Neue"/>
              </a:defRPr>
            </a:pPr>
            <a:r>
              <a:rPr dirty="0"/>
              <a:t>AN AI COPILOT FOR KUBERNETES INCIDENT DIAGNOSIS</a:t>
            </a:r>
          </a:p>
        </p:txBody>
      </p:sp>
      <p:sp>
        <p:nvSpPr>
          <p:cNvPr id="6" name="Rectangle 5"/>
          <p:cNvSpPr/>
          <p:nvPr/>
        </p:nvSpPr>
        <p:spPr>
          <a:xfrm>
            <a:off x="5180990" y="3931920"/>
            <a:ext cx="1828800" cy="27432"/>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52190" y="4389120"/>
            <a:ext cx="5486400" cy="118872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0" y="4526280"/>
            <a:ext cx="5212080" cy="600164"/>
          </a:xfrm>
          <a:prstGeom prst="rect">
            <a:avLst/>
          </a:prstGeom>
          <a:noFill/>
        </p:spPr>
        <p:txBody>
          <a:bodyPr wrap="square">
            <a:spAutoFit/>
          </a:bodyPr>
          <a:lstStyle/>
          <a:p>
            <a:pPr algn="ctr">
              <a:defRPr sz="1100" b="1">
                <a:solidFill>
                  <a:srgbClr val="382A24"/>
                </a:solidFill>
                <a:latin typeface="Helvetica Neue"/>
              </a:defRPr>
            </a:pPr>
            <a:r>
              <a:rPr lang="en-US" dirty="0"/>
              <a:t>Harmit Jetani-23DCS040</a:t>
            </a:r>
          </a:p>
          <a:p>
            <a:pPr algn="ctr">
              <a:defRPr sz="1100" b="1">
                <a:solidFill>
                  <a:srgbClr val="382A24"/>
                </a:solidFill>
                <a:latin typeface="Helvetica Neue"/>
              </a:defRPr>
            </a:pPr>
            <a:r>
              <a:rPr lang="en-US" dirty="0"/>
              <a:t>Kashish Gandhi-23DCS028</a:t>
            </a:r>
          </a:p>
          <a:p>
            <a:pPr algn="ctr">
              <a:defRPr sz="1100" b="1">
                <a:solidFill>
                  <a:srgbClr val="382A24"/>
                </a:solidFill>
                <a:latin typeface="Helvetica Neue"/>
              </a:defRPr>
            </a:pPr>
            <a:r>
              <a:rPr lang="en-US" dirty="0"/>
              <a:t>Shubham Chaudhary-23DCS0</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01 / WHY WE BUILT THIS</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The Problem: Why Kubernetes Is Hard to Troubleshoot</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When an application fails inside Kubernetes, finding out why takes too long and requires manual work.</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338328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240280"/>
            <a:ext cx="2834640" cy="3749039"/>
          </a:xfrm>
          <a:prstGeom prst="rect">
            <a:avLst/>
          </a:prstGeom>
          <a:noFill/>
        </p:spPr>
        <p:txBody>
          <a:bodyPr wrap="square">
            <a:spAutoFit/>
          </a:bodyPr>
          <a:lstStyle/>
          <a:p>
            <a:pPr>
              <a:defRPr sz="2200" b="1">
                <a:solidFill>
                  <a:srgbClr val="D97B4E"/>
                </a:solidFill>
                <a:latin typeface="Helvetica Neue"/>
              </a:defRPr>
            </a:pPr>
            <a:r>
              <a:t>01</a:t>
            </a:r>
          </a:p>
          <a:p>
            <a:pPr>
              <a:spcBef>
                <a:spcPts val="800"/>
              </a:spcBef>
              <a:defRPr sz="1400" b="1">
                <a:solidFill>
                  <a:srgbClr val="382A24"/>
                </a:solidFill>
                <a:latin typeface="Helvetica Neue"/>
              </a:defRPr>
            </a:pPr>
            <a:r>
              <a:t>Too Many Confusing Alerts</a:t>
            </a:r>
          </a:p>
          <a:p>
            <a:pPr>
              <a:spcBef>
                <a:spcPts val="1000"/>
              </a:spcBef>
              <a:defRPr sz="1100">
                <a:solidFill>
                  <a:srgbClr val="594941"/>
                </a:solidFill>
                <a:latin typeface="Helvetica Neue"/>
              </a:defRPr>
            </a:pPr>
            <a:r>
              <a:t>When one background service crashes, 20 other services fail at the same time. The person on call gets flooded with error messages and cannot quickly tell which pod caused the issue.</a:t>
            </a:r>
          </a:p>
        </p:txBody>
      </p:sp>
      <p:sp>
        <p:nvSpPr>
          <p:cNvPr id="11" name="Rounded Rectangle 10"/>
          <p:cNvSpPr/>
          <p:nvPr/>
        </p:nvSpPr>
        <p:spPr>
          <a:xfrm>
            <a:off x="4434840" y="2011680"/>
            <a:ext cx="338328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60" y="2240280"/>
            <a:ext cx="2834640" cy="3749039"/>
          </a:xfrm>
          <a:prstGeom prst="rect">
            <a:avLst/>
          </a:prstGeom>
          <a:noFill/>
        </p:spPr>
        <p:txBody>
          <a:bodyPr wrap="square">
            <a:spAutoFit/>
          </a:bodyPr>
          <a:lstStyle/>
          <a:p>
            <a:pPr>
              <a:defRPr sz="2200" b="1">
                <a:solidFill>
                  <a:srgbClr val="D97B4E"/>
                </a:solidFill>
                <a:latin typeface="Helvetica Neue"/>
              </a:defRPr>
            </a:pPr>
            <a:r>
              <a:t>02</a:t>
            </a:r>
          </a:p>
          <a:p>
            <a:pPr>
              <a:spcBef>
                <a:spcPts val="800"/>
              </a:spcBef>
              <a:defRPr sz="1400" b="1">
                <a:solidFill>
                  <a:srgbClr val="382A24"/>
                </a:solidFill>
                <a:latin typeface="Helvetica Neue"/>
              </a:defRPr>
            </a:pPr>
            <a:r>
              <a:t>Too Many Terminal Commands</a:t>
            </a:r>
          </a:p>
          <a:p>
            <a:pPr>
              <a:spcBef>
                <a:spcPts val="1000"/>
              </a:spcBef>
              <a:defRPr sz="1100">
                <a:solidFill>
                  <a:srgbClr val="594941"/>
                </a:solidFill>
                <a:latin typeface="Helvetica Neue"/>
              </a:defRPr>
            </a:pPr>
            <a:r>
              <a:t>To find the root cause, an engineer must manually open terminal windows, run 'kubectl logs', 'kubectl describe', check Prometheus graphs, and decode exit codes. This often takes 30 to 45 minutes.</a:t>
            </a:r>
          </a:p>
        </p:txBody>
      </p:sp>
      <p:sp>
        <p:nvSpPr>
          <p:cNvPr id="13" name="Rounded Rectangle 12"/>
          <p:cNvSpPr/>
          <p:nvPr/>
        </p:nvSpPr>
        <p:spPr>
          <a:xfrm>
            <a:off x="8046720" y="2011680"/>
            <a:ext cx="338328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2240280"/>
            <a:ext cx="2834640" cy="3749039"/>
          </a:xfrm>
          <a:prstGeom prst="rect">
            <a:avLst/>
          </a:prstGeom>
          <a:noFill/>
        </p:spPr>
        <p:txBody>
          <a:bodyPr wrap="square">
            <a:spAutoFit/>
          </a:bodyPr>
          <a:lstStyle/>
          <a:p>
            <a:pPr>
              <a:defRPr sz="2200" b="1">
                <a:solidFill>
                  <a:srgbClr val="D97B4E"/>
                </a:solidFill>
                <a:latin typeface="Helvetica Neue"/>
              </a:defRPr>
            </a:pPr>
            <a:r>
              <a:t>03</a:t>
            </a:r>
          </a:p>
          <a:p>
            <a:pPr>
              <a:spcBef>
                <a:spcPts val="800"/>
              </a:spcBef>
              <a:defRPr sz="1400" b="1">
                <a:solidFill>
                  <a:srgbClr val="382A24"/>
                </a:solidFill>
                <a:latin typeface="Helvetica Neue"/>
              </a:defRPr>
            </a:pPr>
            <a:r>
              <a:t>Dashboards Only Show Graphs</a:t>
            </a:r>
          </a:p>
          <a:p>
            <a:pPr>
              <a:spcBef>
                <a:spcPts val="1000"/>
              </a:spcBef>
              <a:defRPr sz="1100">
                <a:solidFill>
                  <a:srgbClr val="594941"/>
                </a:solidFill>
                <a:latin typeface="Helvetica Neue"/>
              </a:defRPr>
            </a:pPr>
            <a:r>
              <a:t>Tools like Grafana show nice graphs that an error happened, but they cannot tell you why it happened or what command to run to fix it. A human still has to figure it out.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02 / RESPONSE TO REVIEWER FEEDBACK</a:t>
            </a:r>
          </a:p>
        </p:txBody>
      </p:sp>
      <p:sp>
        <p:nvSpPr>
          <p:cNvPr id="6" name="TextBox 5"/>
          <p:cNvSpPr txBox="1"/>
          <p:nvPr/>
        </p:nvSpPr>
        <p:spPr>
          <a:xfrm>
            <a:off x="822960" y="777240"/>
            <a:ext cx="10515600" cy="338554"/>
          </a:xfrm>
          <a:prstGeom prst="rect">
            <a:avLst/>
          </a:prstGeom>
          <a:noFill/>
        </p:spPr>
        <p:txBody>
          <a:bodyPr wrap="square" lIns="0" tIns="0" rIns="0" bIns="0">
            <a:spAutoFit/>
          </a:bodyPr>
          <a:lstStyle/>
          <a:p>
            <a:pPr>
              <a:defRPr sz="2200" b="1">
                <a:solidFill>
                  <a:srgbClr val="382A24"/>
                </a:solidFill>
                <a:latin typeface="Helvetica Neue"/>
              </a:defRPr>
            </a:pPr>
            <a:r>
              <a:rPr lang="en-US" dirty="0"/>
              <a:t>IMPROVEMENT</a:t>
            </a:r>
            <a:endParaRPr dirty="0"/>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How we improved the project based on the review: proving feasibility and using 100% real data.</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10545775" cy="1097280"/>
          </a:xfrm>
          <a:prstGeom prst="roundRect">
            <a:avLst/>
          </a:prstGeom>
          <a:solidFill>
            <a:srgbClr val="F5EEE8"/>
          </a:solidFill>
          <a:ln w="12700">
            <a:solidFill>
              <a:srgbClr val="D97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103120"/>
            <a:ext cx="10058400" cy="914400"/>
          </a:xfrm>
          <a:prstGeom prst="rect">
            <a:avLst/>
          </a:prstGeom>
          <a:noFill/>
        </p:spPr>
        <p:txBody>
          <a:bodyPr wrap="square">
            <a:spAutoFit/>
          </a:bodyPr>
          <a:lstStyle/>
          <a:p>
            <a:pPr>
              <a:defRPr sz="950" b="1">
                <a:solidFill>
                  <a:srgbClr val="D97B4E"/>
                </a:solidFill>
                <a:latin typeface="Helvetica Neue"/>
              </a:defRPr>
            </a:pPr>
            <a:r>
              <a:t>REVIEWER FEEDBACK (PREVIOUS SCORE: 37 / 50)</a:t>
            </a:r>
          </a:p>
          <a:p>
            <a:pPr>
              <a:spcBef>
                <a:spcPts val="300"/>
              </a:spcBef>
              <a:defRPr sz="1250" b="1">
                <a:solidFill>
                  <a:srgbClr val="382A24"/>
                </a:solidFill>
                <a:latin typeface="Helvetica Neue"/>
              </a:defRPr>
            </a:pPr>
            <a:r>
              <a:t>"The idea is good, but still need to work a lot on the system’s feasibility and focus more on using real data rather than test data for testing."</a:t>
            </a:r>
          </a:p>
        </p:txBody>
      </p:sp>
      <p:sp>
        <p:nvSpPr>
          <p:cNvPr id="11" name="Rounded Rectangle 10"/>
          <p:cNvSpPr/>
          <p:nvPr/>
        </p:nvSpPr>
        <p:spPr>
          <a:xfrm>
            <a:off x="822960" y="3291840"/>
            <a:ext cx="5150815" cy="3108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429000"/>
            <a:ext cx="4572000" cy="2834640"/>
          </a:xfrm>
          <a:prstGeom prst="rect">
            <a:avLst/>
          </a:prstGeom>
          <a:noFill/>
        </p:spPr>
        <p:txBody>
          <a:bodyPr wrap="square">
            <a:spAutoFit/>
          </a:bodyPr>
          <a:lstStyle/>
          <a:p>
            <a:pPr>
              <a:defRPr sz="1350" b="1">
                <a:solidFill>
                  <a:srgbClr val="382A24"/>
                </a:solidFill>
                <a:latin typeface="Helvetica Neue"/>
              </a:defRPr>
            </a:pPr>
            <a:r>
              <a:rPr dirty="0"/>
              <a:t>Action 1: Proving Feasibility (Can it run?)</a:t>
            </a:r>
          </a:p>
          <a:p>
            <a:pPr>
              <a:spcBef>
                <a:spcPts val="600"/>
              </a:spcBef>
              <a:defRPr sz="1000">
                <a:solidFill>
                  <a:srgbClr val="594941"/>
                </a:solidFill>
                <a:latin typeface="Helvetica Neue"/>
              </a:defRPr>
            </a:pPr>
            <a:r>
              <a:rPr dirty="0"/>
              <a:t>•  Runs on Normal Laptop: The entire project (Frontend, Backend, Database, AI Service) runs using less than 500MB RAM. You don't need expensive cloud servers.</a:t>
            </a:r>
          </a:p>
          <a:p>
            <a:pPr>
              <a:spcBef>
                <a:spcPts val="600"/>
              </a:spcBef>
              <a:defRPr sz="1000">
                <a:solidFill>
                  <a:srgbClr val="594941"/>
                </a:solidFill>
                <a:latin typeface="Helvetica Neue"/>
              </a:defRPr>
            </a:pPr>
            <a:r>
              <a:rPr dirty="0"/>
              <a:t>•  No Heavy Cluster Agents: We do not install heavy programs inside Kubernetes nodes. We talk directly to the Kubernetes API, so there is zero slowdown on your apps.</a:t>
            </a:r>
          </a:p>
          <a:p>
            <a:pPr>
              <a:spcBef>
                <a:spcPts val="600"/>
              </a:spcBef>
              <a:defRPr sz="1000">
                <a:solidFill>
                  <a:srgbClr val="594941"/>
                </a:solidFill>
                <a:latin typeface="Helvetica Neue"/>
              </a:defRPr>
            </a:pPr>
            <a:r>
              <a:rPr dirty="0"/>
              <a:t>•  Fast Responses: Dashboard and live telemetry load in less than 1 second. The AI analyzes crash logs and answers in under 4 seconds.</a:t>
            </a:r>
          </a:p>
          <a:p>
            <a:pPr>
              <a:spcBef>
                <a:spcPts val="600"/>
              </a:spcBef>
              <a:defRPr sz="1000">
                <a:solidFill>
                  <a:srgbClr val="594941"/>
                </a:solidFill>
                <a:latin typeface="Helvetica Neue"/>
              </a:defRPr>
            </a:pPr>
            <a:r>
              <a:rPr dirty="0"/>
              <a:t>•  Safe for Humans: The AI gives suggestions and shows the exact command to run. It does not delete or change your cluster without your approval.</a:t>
            </a:r>
          </a:p>
        </p:txBody>
      </p:sp>
      <p:sp>
        <p:nvSpPr>
          <p:cNvPr id="13" name="Rounded Rectangle 12"/>
          <p:cNvSpPr/>
          <p:nvPr/>
        </p:nvSpPr>
        <p:spPr>
          <a:xfrm>
            <a:off x="6217920" y="3291840"/>
            <a:ext cx="5150815" cy="3108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429000"/>
            <a:ext cx="4572000" cy="2834640"/>
          </a:xfrm>
          <a:prstGeom prst="rect">
            <a:avLst/>
          </a:prstGeom>
          <a:noFill/>
        </p:spPr>
        <p:txBody>
          <a:bodyPr wrap="square">
            <a:spAutoFit/>
          </a:bodyPr>
          <a:lstStyle/>
          <a:p>
            <a:pPr>
              <a:defRPr sz="1350" b="1">
                <a:solidFill>
                  <a:srgbClr val="382A24"/>
                </a:solidFill>
                <a:latin typeface="Helvetica Neue"/>
              </a:defRPr>
            </a:pPr>
            <a:r>
              <a:t>Action 2: Using Real Data (Where data comes from)</a:t>
            </a:r>
          </a:p>
          <a:p>
            <a:pPr>
              <a:spcBef>
                <a:spcPts val="600"/>
              </a:spcBef>
              <a:defRPr sz="1000">
                <a:solidFill>
                  <a:srgbClr val="594941"/>
                </a:solidFill>
                <a:latin typeface="Helvetica Neue"/>
              </a:defRPr>
            </a:pPr>
            <a:r>
              <a:t>•  Deleted All Fake Data: We completely removed static JSON files and fake mock generators. 100% of the data on screen comes from a live system.</a:t>
            </a:r>
          </a:p>
          <a:p>
            <a:pPr>
              <a:spcBef>
                <a:spcPts val="600"/>
              </a:spcBef>
              <a:defRPr sz="1000">
                <a:solidFill>
                  <a:srgbClr val="594941"/>
                </a:solidFill>
                <a:latin typeface="Helvetica Neue"/>
              </a:defRPr>
            </a:pPr>
            <a:r>
              <a:t>•  Live Kubernetes Cluster: Connected directly to a real Kubernetes cluster running on Docker Desktop (v1.32) with live pods and nodes.</a:t>
            </a:r>
          </a:p>
          <a:p>
            <a:pPr>
              <a:spcBef>
                <a:spcPts val="600"/>
              </a:spcBef>
              <a:defRPr sz="1000">
                <a:solidFill>
                  <a:srgbClr val="594941"/>
                </a:solidFill>
                <a:latin typeface="Helvetica Neue"/>
              </a:defRPr>
            </a:pPr>
            <a:r>
              <a:t>•  Real Prometheus Telemetry: Prometheus actively scrapes real CPU and memory usage from live containers every few seconds.</a:t>
            </a:r>
          </a:p>
          <a:p>
            <a:pPr>
              <a:spcBef>
                <a:spcPts val="600"/>
              </a:spcBef>
              <a:defRPr sz="1000">
                <a:solidFill>
                  <a:srgbClr val="594941"/>
                </a:solidFill>
                <a:latin typeface="Helvetica Neue"/>
              </a:defRPr>
            </a:pPr>
            <a:r>
              <a:t>•  Real Crash Testing: We tested using real container crashes: memory stress reaching real Linux Out-Of-Memory limits (Exit Code 137).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03 / DATA SOURCES</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Where Does the Project Data Come From?</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A clear look at the 4 live data sources used by KubeMind—no fake data.</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194560"/>
            <a:ext cx="4572000" cy="1600200"/>
          </a:xfrm>
          <a:prstGeom prst="rect">
            <a:avLst/>
          </a:prstGeom>
          <a:noFill/>
        </p:spPr>
        <p:txBody>
          <a:bodyPr wrap="square">
            <a:spAutoFit/>
          </a:bodyPr>
          <a:lstStyle/>
          <a:p>
            <a:pPr>
              <a:defRPr sz="1350" b="1">
                <a:solidFill>
                  <a:srgbClr val="382A24"/>
                </a:solidFill>
                <a:latin typeface="Helvetica Neue"/>
              </a:defRPr>
            </a:pPr>
            <a:r>
              <a:t>1. Pod &amp; Node State</a:t>
            </a:r>
          </a:p>
          <a:p>
            <a:pPr>
              <a:spcBef>
                <a:spcPts val="200"/>
              </a:spcBef>
              <a:defRPr sz="1000" b="1">
                <a:solidFill>
                  <a:srgbClr val="D97B4E"/>
                </a:solidFill>
                <a:latin typeface="Helvetica Neue"/>
              </a:defRPr>
            </a:pPr>
            <a:r>
              <a:t>Source: Kubernetes API Server</a:t>
            </a:r>
          </a:p>
          <a:p>
            <a:pPr>
              <a:spcBef>
                <a:spcPts val="600"/>
              </a:spcBef>
              <a:defRPr sz="1050">
                <a:solidFill>
                  <a:srgbClr val="594941"/>
                </a:solidFill>
                <a:latin typeface="Helvetica Neue"/>
              </a:defRPr>
            </a:pPr>
            <a:r>
              <a:t>The backend talks directly to the official Kubernetes API on port 6443. It fetches the live list of running pods, node health, restart counts, and namespaces in real time.</a:t>
            </a:r>
          </a:p>
        </p:txBody>
      </p:sp>
      <p:sp>
        <p:nvSpPr>
          <p:cNvPr id="11" name="Rounded Rectangle 10"/>
          <p:cNvSpPr/>
          <p:nvPr/>
        </p:nvSpPr>
        <p:spPr>
          <a:xfrm>
            <a:off x="6217920" y="201168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194560"/>
            <a:ext cx="4572000" cy="1600200"/>
          </a:xfrm>
          <a:prstGeom prst="rect">
            <a:avLst/>
          </a:prstGeom>
          <a:noFill/>
        </p:spPr>
        <p:txBody>
          <a:bodyPr wrap="square">
            <a:spAutoFit/>
          </a:bodyPr>
          <a:lstStyle/>
          <a:p>
            <a:pPr>
              <a:defRPr sz="1350" b="1">
                <a:solidFill>
                  <a:srgbClr val="382A24"/>
                </a:solidFill>
                <a:latin typeface="Helvetica Neue"/>
              </a:defRPr>
            </a:pPr>
            <a:r>
              <a:t>2. CPU &amp; Memory Usage</a:t>
            </a:r>
          </a:p>
          <a:p>
            <a:pPr>
              <a:spcBef>
                <a:spcPts val="200"/>
              </a:spcBef>
              <a:defRPr sz="1000" b="1">
                <a:solidFill>
                  <a:srgbClr val="D97B4E"/>
                </a:solidFill>
                <a:latin typeface="Helvetica Neue"/>
              </a:defRPr>
            </a:pPr>
            <a:r>
              <a:t>Source: Prometheus Scraper</a:t>
            </a:r>
          </a:p>
          <a:p>
            <a:pPr>
              <a:spcBef>
                <a:spcPts val="600"/>
              </a:spcBef>
              <a:defRPr sz="1050">
                <a:solidFill>
                  <a:srgbClr val="594941"/>
                </a:solidFill>
                <a:latin typeface="Helvetica Neue"/>
              </a:defRPr>
            </a:pPr>
            <a:r>
              <a:t>A real Prometheus container (port 9090) measures the actual CPU and memory used by the containers. The graphs on the dashboard update from live PromQL queries.</a:t>
            </a:r>
          </a:p>
        </p:txBody>
      </p:sp>
      <p:sp>
        <p:nvSpPr>
          <p:cNvPr id="13" name="Rounded Rectangle 12"/>
          <p:cNvSpPr/>
          <p:nvPr/>
        </p:nvSpPr>
        <p:spPr>
          <a:xfrm>
            <a:off x="822960" y="420624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389120"/>
            <a:ext cx="4572000" cy="1600200"/>
          </a:xfrm>
          <a:prstGeom prst="rect">
            <a:avLst/>
          </a:prstGeom>
          <a:noFill/>
        </p:spPr>
        <p:txBody>
          <a:bodyPr wrap="square">
            <a:spAutoFit/>
          </a:bodyPr>
          <a:lstStyle/>
          <a:p>
            <a:pPr>
              <a:defRPr sz="1350" b="1">
                <a:solidFill>
                  <a:srgbClr val="382A24"/>
                </a:solidFill>
                <a:latin typeface="Helvetica Neue"/>
              </a:defRPr>
            </a:pPr>
            <a:r>
              <a:t>3. Container Crash Logs</a:t>
            </a:r>
          </a:p>
          <a:p>
            <a:pPr>
              <a:spcBef>
                <a:spcPts val="200"/>
              </a:spcBef>
              <a:defRPr sz="1000" b="1">
                <a:solidFill>
                  <a:srgbClr val="D97B4E"/>
                </a:solidFill>
                <a:latin typeface="Helvetica Neue"/>
              </a:defRPr>
            </a:pPr>
            <a:r>
              <a:t>Source: Linux / Docker Runtime</a:t>
            </a:r>
          </a:p>
          <a:p>
            <a:pPr>
              <a:spcBef>
                <a:spcPts val="600"/>
              </a:spcBef>
              <a:defRPr sz="1050">
                <a:solidFill>
                  <a:srgbClr val="594941"/>
                </a:solidFill>
                <a:latin typeface="Helvetica Neue"/>
              </a:defRPr>
            </a:pPr>
            <a:r>
              <a:t>When an application crashes, KubeMind reads the real terminal output (stdout and stderr) directly from the container via Kubernetes. It sees the exact fatal error message.</a:t>
            </a:r>
          </a:p>
        </p:txBody>
      </p:sp>
      <p:sp>
        <p:nvSpPr>
          <p:cNvPr id="15" name="Rounded Rectangle 14"/>
          <p:cNvSpPr/>
          <p:nvPr/>
        </p:nvSpPr>
        <p:spPr>
          <a:xfrm>
            <a:off x="6217920" y="420624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4389120"/>
            <a:ext cx="4572000" cy="1600200"/>
          </a:xfrm>
          <a:prstGeom prst="rect">
            <a:avLst/>
          </a:prstGeom>
          <a:noFill/>
        </p:spPr>
        <p:txBody>
          <a:bodyPr wrap="square">
            <a:spAutoFit/>
          </a:bodyPr>
          <a:lstStyle/>
          <a:p>
            <a:pPr>
              <a:defRPr sz="1350" b="1">
                <a:solidFill>
                  <a:srgbClr val="382A24"/>
                </a:solidFill>
                <a:latin typeface="Helvetica Neue"/>
              </a:defRPr>
            </a:pPr>
            <a:r>
              <a:t>4. System Warnings &amp; Events</a:t>
            </a:r>
          </a:p>
          <a:p>
            <a:pPr>
              <a:spcBef>
                <a:spcPts val="200"/>
              </a:spcBef>
              <a:defRPr sz="1000" b="1">
                <a:solidFill>
                  <a:srgbClr val="D97B4E"/>
                </a:solidFill>
                <a:latin typeface="Helvetica Neue"/>
              </a:defRPr>
            </a:pPr>
            <a:r>
              <a:t>Source: Kubernetes Event Feed</a:t>
            </a:r>
          </a:p>
          <a:p>
            <a:pPr>
              <a:spcBef>
                <a:spcPts val="600"/>
              </a:spcBef>
              <a:defRPr sz="1050">
                <a:solidFill>
                  <a:srgbClr val="594941"/>
                </a:solidFill>
                <a:latin typeface="Helvetica Neue"/>
              </a:defRPr>
            </a:pPr>
            <a:r>
              <a:t>Kubernetes creates event messages whenever a pod restarts or runs out of memory. KubeMind captures these Warning events live and turns them into incident cards.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04 / VERIFICATION MATRIX</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Comparison: What Changed from Test Data to Real Data</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An honest, side-by-side comparison showing how every piece of data is now real.</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10545775" cy="429768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148840"/>
            <a:ext cx="10058400" cy="3931920"/>
          </a:xfrm>
          <a:prstGeom prst="rect">
            <a:avLst/>
          </a:prstGeom>
          <a:noFill/>
        </p:spPr>
        <p:txBody>
          <a:bodyPr wrap="square">
            <a:spAutoFit/>
          </a:bodyPr>
          <a:lstStyle/>
          <a:p>
            <a:pPr>
              <a:defRPr sz="1000" b="1">
                <a:solidFill>
                  <a:srgbClr val="D97B4E"/>
                </a:solidFill>
                <a:latin typeface="Helvetica Neue"/>
              </a:defRPr>
            </a:pPr>
            <a:r>
              <a:t>PROJECT FEATURE           |  BEFORE (PROTOTYPE TEST DATA)            |  NOW (100% REAL CLUSTER DATA)</a:t>
            </a:r>
          </a:p>
          <a:p>
            <a:pPr>
              <a:spcBef>
                <a:spcPts val="800"/>
              </a:spcBef>
              <a:defRPr sz="1100" b="1">
                <a:solidFill>
                  <a:srgbClr val="382A24"/>
                </a:solidFill>
                <a:latin typeface="Helvetica Neue"/>
              </a:defRPr>
            </a:pPr>
            <a:r>
              <a:t>Pod &amp; Workload List</a:t>
            </a:r>
          </a:p>
          <a:p>
            <a:pPr>
              <a:defRPr sz="950">
                <a:solidFill>
                  <a:srgbClr val="C24C3C"/>
                </a:solidFill>
                <a:latin typeface="Helvetica Neue"/>
              </a:defRPr>
            </a:pPr>
            <a:r>
              <a:t>   Before: Hardcoded JSON with fake names like 'auth-service-7f89b'</a:t>
            </a:r>
          </a:p>
          <a:p>
            <a:pPr>
              <a:defRPr sz="1000" b="1">
                <a:solidFill>
                  <a:srgbClr val="4C8A6B"/>
                </a:solidFill>
                <a:latin typeface="Helvetica Neue"/>
              </a:defRPr>
            </a:pPr>
            <a:r>
              <a:t>   Now:    Live pods running on Docker Desktop: 'memory-crash-pod', 'live-demo-app', and 'coredns'</a:t>
            </a:r>
          </a:p>
          <a:p>
            <a:pPr>
              <a:spcBef>
                <a:spcPts val="800"/>
              </a:spcBef>
              <a:defRPr sz="1100" b="1">
                <a:solidFill>
                  <a:srgbClr val="382A24"/>
                </a:solidFill>
                <a:latin typeface="Helvetica Neue"/>
              </a:defRPr>
            </a:pPr>
            <a:r>
              <a:t>CPU &amp; Memory Metrics</a:t>
            </a:r>
          </a:p>
          <a:p>
            <a:pPr>
              <a:defRPr sz="950">
                <a:solidFill>
                  <a:srgbClr val="C24C3C"/>
                </a:solidFill>
                <a:latin typeface="Helvetica Neue"/>
              </a:defRPr>
            </a:pPr>
            <a:r>
              <a:t>   Before: Random math numbers generated on a timer</a:t>
            </a:r>
          </a:p>
          <a:p>
            <a:pPr>
              <a:defRPr sz="1000" b="1">
                <a:solidFill>
                  <a:srgbClr val="4C8A6B"/>
                </a:solidFill>
                <a:latin typeface="Helvetica Neue"/>
              </a:defRPr>
            </a:pPr>
            <a:r>
              <a:t>   Now:    Actual CPU &amp; RAM measured by Prometheus from real Linux container cgroups</a:t>
            </a:r>
          </a:p>
          <a:p>
            <a:pPr>
              <a:spcBef>
                <a:spcPts val="800"/>
              </a:spcBef>
              <a:defRPr sz="1100" b="1">
                <a:solidFill>
                  <a:srgbClr val="382A24"/>
                </a:solidFill>
                <a:latin typeface="Helvetica Neue"/>
              </a:defRPr>
            </a:pPr>
            <a:r>
              <a:t>Container Crash Logs</a:t>
            </a:r>
          </a:p>
          <a:p>
            <a:pPr>
              <a:defRPr sz="950">
                <a:solidFill>
                  <a:srgbClr val="C24C3C"/>
                </a:solidFill>
                <a:latin typeface="Helvetica Neue"/>
              </a:defRPr>
            </a:pPr>
            <a:r>
              <a:t>   Before: Pre-written text strings saved in a database table</a:t>
            </a:r>
          </a:p>
          <a:p>
            <a:pPr>
              <a:defRPr sz="1000" b="1">
                <a:solidFill>
                  <a:srgbClr val="4C8A6B"/>
                </a:solidFill>
                <a:latin typeface="Helvetica Neue"/>
              </a:defRPr>
            </a:pPr>
            <a:r>
              <a:t>   Now:    Real log output streamed directly from container terminal ('stress: dispatching hogs...', 'exit 1')</a:t>
            </a:r>
          </a:p>
          <a:p>
            <a:pPr>
              <a:spcBef>
                <a:spcPts val="800"/>
              </a:spcBef>
              <a:defRPr sz="1100" b="1">
                <a:solidFill>
                  <a:srgbClr val="382A24"/>
                </a:solidFill>
                <a:latin typeface="Helvetica Neue"/>
              </a:defRPr>
            </a:pPr>
            <a:r>
              <a:t>Incident Alerts</a:t>
            </a:r>
          </a:p>
          <a:p>
            <a:pPr>
              <a:defRPr sz="950">
                <a:solidFill>
                  <a:srgbClr val="C24C3C"/>
                </a:solidFill>
                <a:latin typeface="Helvetica Neue"/>
              </a:defRPr>
            </a:pPr>
            <a:r>
              <a:t>   Before: Dummy rows inserted during database setup</a:t>
            </a:r>
          </a:p>
          <a:p>
            <a:pPr>
              <a:defRPr sz="1000" b="1">
                <a:solidFill>
                  <a:srgbClr val="4C8A6B"/>
                </a:solidFill>
                <a:latin typeface="Helvetica Neue"/>
              </a:defRPr>
            </a:pPr>
            <a:r>
              <a:t>   Now:    Triggered automatically only when Kubernetes marks a pod as CrashLoopBackOff or OOMKilled</a:t>
            </a:r>
          </a:p>
          <a:p>
            <a:pPr>
              <a:spcBef>
                <a:spcPts val="800"/>
              </a:spcBef>
              <a:defRPr sz="1100" b="1">
                <a:solidFill>
                  <a:srgbClr val="382A24"/>
                </a:solidFill>
                <a:latin typeface="Helvetica Neue"/>
              </a:defRPr>
            </a:pPr>
            <a:r>
              <a:t>Fixing the Issue</a:t>
            </a:r>
          </a:p>
          <a:p>
            <a:pPr>
              <a:defRPr sz="950">
                <a:solidFill>
                  <a:srgbClr val="C24C3C"/>
                </a:solidFill>
                <a:latin typeface="Helvetica Neue"/>
              </a:defRPr>
            </a:pPr>
            <a:r>
              <a:t>   Before: Clicking a button showed a fake success popup</a:t>
            </a:r>
          </a:p>
          <a:p>
            <a:pPr>
              <a:defRPr sz="1000" b="1">
                <a:solidFill>
                  <a:srgbClr val="4C8A6B"/>
                </a:solidFill>
                <a:latin typeface="Helvetica Neue"/>
              </a:defRPr>
            </a:pPr>
            <a:r>
              <a:t>   Now:    AI generates a real kubectl command that you run in your terminal to fix the live pod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05 / HOW THE AI WORKS</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How KubeMind Diagnoses a Crash in 4 Simple Steps</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Instead of guessing, the AI follows four clear steps to read the real logs and provide a fix.</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251460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240280"/>
            <a:ext cx="2057400" cy="3749039"/>
          </a:xfrm>
          <a:prstGeom prst="rect">
            <a:avLst/>
          </a:prstGeom>
          <a:noFill/>
        </p:spPr>
        <p:txBody>
          <a:bodyPr wrap="square">
            <a:spAutoFit/>
          </a:bodyPr>
          <a:lstStyle/>
          <a:p>
            <a:pPr>
              <a:defRPr sz="2000" b="1">
                <a:solidFill>
                  <a:srgbClr val="D97B4E"/>
                </a:solidFill>
                <a:latin typeface="Helvetica Neue"/>
              </a:defRPr>
            </a:pPr>
            <a:r>
              <a:t>01</a:t>
            </a:r>
          </a:p>
          <a:p>
            <a:pPr>
              <a:spcBef>
                <a:spcPts val="800"/>
              </a:spcBef>
              <a:defRPr sz="1300" b="1">
                <a:solidFill>
                  <a:srgbClr val="382A24"/>
                </a:solidFill>
                <a:latin typeface="Helvetica Neue"/>
              </a:defRPr>
            </a:pPr>
            <a:r>
              <a:t>Step 1: Notice the Problem</a:t>
            </a:r>
          </a:p>
          <a:p>
            <a:pPr>
              <a:spcBef>
                <a:spcPts val="1000"/>
              </a:spcBef>
              <a:defRPr sz="1050">
                <a:solidFill>
                  <a:srgbClr val="594941"/>
                </a:solidFill>
                <a:latin typeface="Helvetica Neue"/>
              </a:defRPr>
            </a:pPr>
            <a:r>
              <a:t>The operator types a message in chat, or selects a failing pod from the dashboard. The AI identifies which pod and namespace to investigate.</a:t>
            </a:r>
          </a:p>
        </p:txBody>
      </p:sp>
      <p:sp>
        <p:nvSpPr>
          <p:cNvPr id="11" name="Rounded Rectangle 10"/>
          <p:cNvSpPr/>
          <p:nvPr/>
        </p:nvSpPr>
        <p:spPr>
          <a:xfrm>
            <a:off x="3520440" y="2011680"/>
            <a:ext cx="251460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40" y="2240280"/>
            <a:ext cx="2057400" cy="3749039"/>
          </a:xfrm>
          <a:prstGeom prst="rect">
            <a:avLst/>
          </a:prstGeom>
          <a:noFill/>
        </p:spPr>
        <p:txBody>
          <a:bodyPr wrap="square">
            <a:spAutoFit/>
          </a:bodyPr>
          <a:lstStyle/>
          <a:p>
            <a:pPr>
              <a:defRPr sz="2000" b="1">
                <a:solidFill>
                  <a:srgbClr val="D97B4E"/>
                </a:solidFill>
                <a:latin typeface="Helvetica Neue"/>
              </a:defRPr>
            </a:pPr>
            <a:r>
              <a:t>02</a:t>
            </a:r>
          </a:p>
          <a:p>
            <a:pPr>
              <a:spcBef>
                <a:spcPts val="800"/>
              </a:spcBef>
              <a:defRPr sz="1300" b="1">
                <a:solidFill>
                  <a:srgbClr val="382A24"/>
                </a:solidFill>
                <a:latin typeface="Helvetica Neue"/>
              </a:defRPr>
            </a:pPr>
            <a:r>
              <a:t>Step 2: Read Live Logs</a:t>
            </a:r>
          </a:p>
          <a:p>
            <a:pPr>
              <a:spcBef>
                <a:spcPts val="1000"/>
              </a:spcBef>
              <a:defRPr sz="1050">
                <a:solidFill>
                  <a:srgbClr val="594941"/>
                </a:solidFill>
                <a:latin typeface="Helvetica Neue"/>
              </a:defRPr>
            </a:pPr>
            <a:r>
              <a:t>The AI uses a safe tool to read the last 50 lines of logs from the crashing container. It also checks recent Kubernetes Warning events.</a:t>
            </a:r>
          </a:p>
        </p:txBody>
      </p:sp>
      <p:sp>
        <p:nvSpPr>
          <p:cNvPr id="13" name="Rounded Rectangle 12"/>
          <p:cNvSpPr/>
          <p:nvPr/>
        </p:nvSpPr>
        <p:spPr>
          <a:xfrm>
            <a:off x="6217920" y="2011680"/>
            <a:ext cx="251460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2240280"/>
            <a:ext cx="2057400" cy="3749039"/>
          </a:xfrm>
          <a:prstGeom prst="rect">
            <a:avLst/>
          </a:prstGeom>
          <a:noFill/>
        </p:spPr>
        <p:txBody>
          <a:bodyPr wrap="square">
            <a:spAutoFit/>
          </a:bodyPr>
          <a:lstStyle/>
          <a:p>
            <a:pPr>
              <a:defRPr sz="2000" b="1">
                <a:solidFill>
                  <a:srgbClr val="D97B4E"/>
                </a:solidFill>
                <a:latin typeface="Helvetica Neue"/>
              </a:defRPr>
            </a:pPr>
            <a:r>
              <a:t>03</a:t>
            </a:r>
          </a:p>
          <a:p>
            <a:pPr>
              <a:spcBef>
                <a:spcPts val="800"/>
              </a:spcBef>
              <a:defRPr sz="1300" b="1">
                <a:solidFill>
                  <a:srgbClr val="382A24"/>
                </a:solidFill>
                <a:latin typeface="Helvetica Neue"/>
              </a:defRPr>
            </a:pPr>
            <a:r>
              <a:t>Step 3: Find the Cause</a:t>
            </a:r>
          </a:p>
          <a:p>
            <a:pPr>
              <a:spcBef>
                <a:spcPts val="1000"/>
              </a:spcBef>
              <a:defRPr sz="1050">
                <a:solidFill>
                  <a:srgbClr val="594941"/>
                </a:solidFill>
                <a:latin typeface="Helvetica Neue"/>
              </a:defRPr>
            </a:pPr>
            <a:r>
              <a:t>The AI parses the logs. It checks Linux exit codes: Exit 137 means Out-Of-Memory, while Exit 1 means an application crash or database failure.</a:t>
            </a:r>
          </a:p>
        </p:txBody>
      </p:sp>
      <p:sp>
        <p:nvSpPr>
          <p:cNvPr id="15" name="Rounded Rectangle 14"/>
          <p:cNvSpPr/>
          <p:nvPr/>
        </p:nvSpPr>
        <p:spPr>
          <a:xfrm>
            <a:off x="8915400" y="2011680"/>
            <a:ext cx="2514600" cy="420624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240280"/>
            <a:ext cx="2057400" cy="3749039"/>
          </a:xfrm>
          <a:prstGeom prst="rect">
            <a:avLst/>
          </a:prstGeom>
          <a:noFill/>
        </p:spPr>
        <p:txBody>
          <a:bodyPr wrap="square">
            <a:spAutoFit/>
          </a:bodyPr>
          <a:lstStyle/>
          <a:p>
            <a:pPr>
              <a:defRPr sz="2000" b="1">
                <a:solidFill>
                  <a:srgbClr val="D97B4E"/>
                </a:solidFill>
                <a:latin typeface="Helvetica Neue"/>
              </a:defRPr>
            </a:pPr>
            <a:r>
              <a:t>04</a:t>
            </a:r>
          </a:p>
          <a:p>
            <a:pPr>
              <a:spcBef>
                <a:spcPts val="800"/>
              </a:spcBef>
              <a:defRPr sz="1300" b="1">
                <a:solidFill>
                  <a:srgbClr val="382A24"/>
                </a:solidFill>
                <a:latin typeface="Helvetica Neue"/>
              </a:defRPr>
            </a:pPr>
            <a:r>
              <a:t>Step 4: Suggest the Fix</a:t>
            </a:r>
          </a:p>
          <a:p>
            <a:pPr>
              <a:spcBef>
                <a:spcPts val="1000"/>
              </a:spcBef>
              <a:defRPr sz="1050">
                <a:solidFill>
                  <a:srgbClr val="594941"/>
                </a:solidFill>
                <a:latin typeface="Helvetica Neue"/>
              </a:defRPr>
            </a:pPr>
            <a:r>
              <a:t>The AI explains the cause in plain English and gives a safe, ready-to-copy command (like 'kubectl set resources ...' to give more memory).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06 / REAL DEMONSTRATION</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How We Tested: Real Crash Scenarios in Kubernetes</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We tested by creating actual pods that intentionally fail, proving the system works on live data.</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5150815" cy="429768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194560"/>
            <a:ext cx="4572000" cy="3931920"/>
          </a:xfrm>
          <a:prstGeom prst="rect">
            <a:avLst/>
          </a:prstGeom>
          <a:noFill/>
        </p:spPr>
        <p:txBody>
          <a:bodyPr wrap="square">
            <a:spAutoFit/>
          </a:bodyPr>
          <a:lstStyle/>
          <a:p>
            <a:pPr>
              <a:defRPr sz="1350" b="1">
                <a:solidFill>
                  <a:srgbClr val="382A24"/>
                </a:solidFill>
                <a:latin typeface="Helvetica Neue"/>
              </a:defRPr>
            </a:pPr>
            <a:r>
              <a:t>Test 1: Real Out-Of-Memory Crash (OOMKilled)</a:t>
            </a:r>
          </a:p>
          <a:p>
            <a:pPr>
              <a:spcBef>
                <a:spcPts val="400"/>
              </a:spcBef>
              <a:defRPr sz="1000">
                <a:solidFill>
                  <a:srgbClr val="91837A"/>
                </a:solidFill>
                <a:latin typeface="Helvetica Neue"/>
              </a:defRPr>
            </a:pPr>
            <a:r>
              <a:t>We started a container with a 50MB memory limit, and instructed it to allocate 150MB of RAM.</a:t>
            </a:r>
          </a:p>
          <a:p>
            <a:pPr>
              <a:spcBef>
                <a:spcPts val="800"/>
              </a:spcBef>
              <a:defRPr sz="1000">
                <a:solidFill>
                  <a:srgbClr val="594941"/>
                </a:solidFill>
                <a:latin typeface="Helvetica Neue"/>
              </a:defRPr>
            </a:pPr>
            <a:r>
              <a:t>•  What happened: The container tried to allocate 150MB of memory on the machine.</a:t>
            </a:r>
          </a:p>
          <a:p>
            <a:pPr>
              <a:spcBef>
                <a:spcPts val="800"/>
              </a:spcBef>
              <a:defRPr sz="1000">
                <a:solidFill>
                  <a:srgbClr val="594941"/>
                </a:solidFill>
                <a:latin typeface="Helvetica Neue"/>
              </a:defRPr>
            </a:pPr>
            <a:r>
              <a:t>•  Linux response: The Linux kernel noticed the container exceeded its limit and killed it with Exit Code 137.</a:t>
            </a:r>
          </a:p>
          <a:p>
            <a:pPr>
              <a:spcBef>
                <a:spcPts val="800"/>
              </a:spcBef>
              <a:defRPr sz="1000">
                <a:solidFill>
                  <a:srgbClr val="594941"/>
                </a:solidFill>
                <a:latin typeface="Helvetica Neue"/>
              </a:defRPr>
            </a:pPr>
            <a:r>
              <a:t>•  KubeMind response: Within 1 second, KubeMind showed a red notification badge: 'OOMKilled in memory-crash-pod'.</a:t>
            </a:r>
          </a:p>
          <a:p>
            <a:pPr>
              <a:spcBef>
                <a:spcPts val="800"/>
              </a:spcBef>
              <a:defRPr sz="1000">
                <a:solidFill>
                  <a:srgbClr val="594941"/>
                </a:solidFill>
                <a:latin typeface="Helvetica Neue"/>
              </a:defRPr>
            </a:pPr>
            <a:r>
              <a:t>•  AI diagnosis: The AI read the memory limit breach and suggested giving the pod 1024Mi of memory.</a:t>
            </a:r>
          </a:p>
        </p:txBody>
      </p:sp>
      <p:sp>
        <p:nvSpPr>
          <p:cNvPr id="11" name="Rounded Rectangle 10"/>
          <p:cNvSpPr/>
          <p:nvPr/>
        </p:nvSpPr>
        <p:spPr>
          <a:xfrm>
            <a:off x="6217920" y="2011680"/>
            <a:ext cx="5150815" cy="429768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194560"/>
            <a:ext cx="4572000" cy="3931920"/>
          </a:xfrm>
          <a:prstGeom prst="rect">
            <a:avLst/>
          </a:prstGeom>
          <a:noFill/>
        </p:spPr>
        <p:txBody>
          <a:bodyPr wrap="square">
            <a:spAutoFit/>
          </a:bodyPr>
          <a:lstStyle/>
          <a:p>
            <a:pPr>
              <a:defRPr sz="1350" b="1">
                <a:solidFill>
                  <a:srgbClr val="382A24"/>
                </a:solidFill>
                <a:latin typeface="Helvetica Neue"/>
              </a:defRPr>
            </a:pPr>
            <a:r>
              <a:t>Test 2: Real Application Crash (CrashLoopBackOff)</a:t>
            </a:r>
          </a:p>
          <a:p>
            <a:pPr>
              <a:spcBef>
                <a:spcPts val="400"/>
              </a:spcBef>
              <a:defRPr sz="1000">
                <a:solidFill>
                  <a:srgbClr val="91837A"/>
                </a:solidFill>
                <a:latin typeface="Helvetica Neue"/>
              </a:defRPr>
            </a:pPr>
            <a:r>
              <a:t>We started a microservice that simulated a database timeout and exited with Exit Code 1.</a:t>
            </a:r>
          </a:p>
          <a:p>
            <a:pPr>
              <a:spcBef>
                <a:spcPts val="800"/>
              </a:spcBef>
              <a:defRPr sz="1000">
                <a:solidFill>
                  <a:srgbClr val="594941"/>
                </a:solidFill>
                <a:latin typeface="Helvetica Neue"/>
              </a:defRPr>
            </a:pPr>
            <a:r>
              <a:t>•  What happened: The app printed 'FATAL ERROR: Connection refused' and terminated.</a:t>
            </a:r>
          </a:p>
          <a:p>
            <a:pPr>
              <a:spcBef>
                <a:spcPts val="800"/>
              </a:spcBef>
              <a:defRPr sz="1000">
                <a:solidFill>
                  <a:srgbClr val="594941"/>
                </a:solidFill>
                <a:latin typeface="Helvetica Neue"/>
              </a:defRPr>
            </a:pPr>
            <a:r>
              <a:t>•  Kubernetes response: Kubernetes tried restarting it, placing it in 'CrashLoopBackOff' status with restart count increasing.</a:t>
            </a:r>
          </a:p>
          <a:p>
            <a:pPr>
              <a:spcBef>
                <a:spcPts val="800"/>
              </a:spcBef>
              <a:defRPr sz="1000">
                <a:solidFill>
                  <a:srgbClr val="594941"/>
                </a:solidFill>
                <a:latin typeface="Helvetica Neue"/>
              </a:defRPr>
            </a:pPr>
            <a:r>
              <a:t>•  KubeMind response: KubeMind highlighted the pod in red on the Pods page and streamed the fatal error in the Log Explorer.</a:t>
            </a:r>
          </a:p>
          <a:p>
            <a:pPr>
              <a:spcBef>
                <a:spcPts val="800"/>
              </a:spcBef>
              <a:defRPr sz="1000">
                <a:solidFill>
                  <a:srgbClr val="594941"/>
                </a:solidFill>
                <a:latin typeface="Helvetica Neue"/>
              </a:defRPr>
            </a:pPr>
            <a:r>
              <a:t>•  AI diagnosis: The AI spotted the database connection failure and suggested checking database credentials.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07 / FEASIBILITY</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System Feasibility: Why This Works in the Real World</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Addressing the mentor's concern about feasibility—proving this is realistic, lightweight, and safe.</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194560"/>
            <a:ext cx="4572000" cy="1600200"/>
          </a:xfrm>
          <a:prstGeom prst="rect">
            <a:avLst/>
          </a:prstGeom>
          <a:noFill/>
        </p:spPr>
        <p:txBody>
          <a:bodyPr wrap="square">
            <a:spAutoFit/>
          </a:bodyPr>
          <a:lstStyle/>
          <a:p>
            <a:pPr>
              <a:defRPr sz="1350" b="1">
                <a:solidFill>
                  <a:srgbClr val="382A24"/>
                </a:solidFill>
                <a:latin typeface="Helvetica Neue"/>
              </a:defRPr>
            </a:pPr>
            <a:r>
              <a:t>1. Runs on Any Normal Laptop</a:t>
            </a:r>
          </a:p>
          <a:p>
            <a:pPr>
              <a:spcBef>
                <a:spcPts val="600"/>
              </a:spcBef>
              <a:defRPr sz="1050">
                <a:solidFill>
                  <a:srgbClr val="594941"/>
                </a:solidFill>
                <a:latin typeface="Helvetica Neue"/>
              </a:defRPr>
            </a:pPr>
            <a:r>
              <a:t>The entire system runs locally inside Docker. It uses less than 500MB of RAM total across backend, frontend, Prometheus, and AI services. You do not need expensive cloud infrastructure to run it.</a:t>
            </a:r>
          </a:p>
        </p:txBody>
      </p:sp>
      <p:sp>
        <p:nvSpPr>
          <p:cNvPr id="11" name="Rounded Rectangle 10"/>
          <p:cNvSpPr/>
          <p:nvPr/>
        </p:nvSpPr>
        <p:spPr>
          <a:xfrm>
            <a:off x="6217920" y="201168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194560"/>
            <a:ext cx="4572000" cy="1600200"/>
          </a:xfrm>
          <a:prstGeom prst="rect">
            <a:avLst/>
          </a:prstGeom>
          <a:noFill/>
        </p:spPr>
        <p:txBody>
          <a:bodyPr wrap="square">
            <a:spAutoFit/>
          </a:bodyPr>
          <a:lstStyle/>
          <a:p>
            <a:pPr>
              <a:defRPr sz="1350" b="1">
                <a:solidFill>
                  <a:srgbClr val="382A24"/>
                </a:solidFill>
                <a:latin typeface="Helvetica Neue"/>
              </a:defRPr>
            </a:pPr>
            <a:r>
              <a:t>2. Zero Cluster Overhead</a:t>
            </a:r>
          </a:p>
          <a:p>
            <a:pPr>
              <a:spcBef>
                <a:spcPts val="600"/>
              </a:spcBef>
              <a:defRPr sz="1050">
                <a:solidFill>
                  <a:srgbClr val="594941"/>
                </a:solidFill>
                <a:latin typeface="Helvetica Neue"/>
              </a:defRPr>
            </a:pPr>
            <a:r>
              <a:t>Many monitoring tools require installing heavy software on every single cluster node. KubeMind does not do that. It connects only to the main Kubernetes API, so your workloads run at full speed.</a:t>
            </a:r>
          </a:p>
        </p:txBody>
      </p:sp>
      <p:sp>
        <p:nvSpPr>
          <p:cNvPr id="13" name="Rounded Rectangle 12"/>
          <p:cNvSpPr/>
          <p:nvPr/>
        </p:nvSpPr>
        <p:spPr>
          <a:xfrm>
            <a:off x="822960" y="420624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389120"/>
            <a:ext cx="4572000" cy="1600200"/>
          </a:xfrm>
          <a:prstGeom prst="rect">
            <a:avLst/>
          </a:prstGeom>
          <a:noFill/>
        </p:spPr>
        <p:txBody>
          <a:bodyPr wrap="square">
            <a:spAutoFit/>
          </a:bodyPr>
          <a:lstStyle/>
          <a:p>
            <a:pPr>
              <a:defRPr sz="1350" b="1">
                <a:solidFill>
                  <a:srgbClr val="382A24"/>
                </a:solidFill>
                <a:latin typeface="Helvetica Neue"/>
              </a:defRPr>
            </a:pPr>
            <a:r>
              <a:t>3. Human Stays in Control (Safety)</a:t>
            </a:r>
          </a:p>
          <a:p>
            <a:pPr>
              <a:spcBef>
                <a:spcPts val="600"/>
              </a:spcBef>
              <a:defRPr sz="1050">
                <a:solidFill>
                  <a:srgbClr val="594941"/>
                </a:solidFill>
                <a:latin typeface="Helvetica Neue"/>
              </a:defRPr>
            </a:pPr>
            <a:r>
              <a:t>AI can make mistakes if allowed to delete or change things automatically. In KubeMind, the AI only recommends actions. The human engineer reviews the suggestion before running it.</a:t>
            </a:r>
          </a:p>
        </p:txBody>
      </p:sp>
      <p:sp>
        <p:nvSpPr>
          <p:cNvPr id="15" name="Rounded Rectangle 14"/>
          <p:cNvSpPr/>
          <p:nvPr/>
        </p:nvSpPr>
        <p:spPr>
          <a:xfrm>
            <a:off x="6217920" y="4206240"/>
            <a:ext cx="5150815"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4389120"/>
            <a:ext cx="4572000" cy="1600200"/>
          </a:xfrm>
          <a:prstGeom prst="rect">
            <a:avLst/>
          </a:prstGeom>
          <a:noFill/>
        </p:spPr>
        <p:txBody>
          <a:bodyPr wrap="square">
            <a:spAutoFit/>
          </a:bodyPr>
          <a:lstStyle/>
          <a:p>
            <a:pPr>
              <a:defRPr sz="1350" b="1">
                <a:solidFill>
                  <a:srgbClr val="382A24"/>
                </a:solidFill>
                <a:latin typeface="Helvetica Neue"/>
              </a:defRPr>
            </a:pPr>
            <a:r>
              <a:t>4. Keeps Running if Tools Go Down</a:t>
            </a:r>
          </a:p>
          <a:p>
            <a:pPr>
              <a:spcBef>
                <a:spcPts val="600"/>
              </a:spcBef>
              <a:defRPr sz="1050">
                <a:solidFill>
                  <a:srgbClr val="594941"/>
                </a:solidFill>
                <a:latin typeface="Helvetica Neue"/>
              </a:defRPr>
            </a:pPr>
            <a:r>
              <a:t>If Prometheus is temporarily restarting, KubeMind continues running smoothly without crashing the dashboard. The system is resilient to network pauses.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08 / LIVE FEATURES</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What Reviewers Can Test and See Right Now</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Everything built in the project is fully working and ready to demonstrate live.</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3383280"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194560"/>
            <a:ext cx="2926080" cy="1600200"/>
          </a:xfrm>
          <a:prstGeom prst="rect">
            <a:avLst/>
          </a:prstGeom>
          <a:noFill/>
        </p:spPr>
        <p:txBody>
          <a:bodyPr wrap="square">
            <a:spAutoFit/>
          </a:bodyPr>
          <a:lstStyle/>
          <a:p>
            <a:pPr>
              <a:defRPr sz="1300" b="1">
                <a:solidFill>
                  <a:srgbClr val="382A24"/>
                </a:solidFill>
                <a:latin typeface="Helvetica Neue"/>
              </a:defRPr>
            </a:pPr>
            <a:r>
              <a:t>Dashboard Command Center</a:t>
            </a:r>
          </a:p>
          <a:p>
            <a:pPr>
              <a:spcBef>
                <a:spcPts val="600"/>
              </a:spcBef>
              <a:defRPr sz="1000">
                <a:solidFill>
                  <a:srgbClr val="594941"/>
                </a:solidFill>
                <a:latin typeface="Helvetica Neue"/>
              </a:defRPr>
            </a:pPr>
            <a:r>
              <a:t>Shows real-time CPU, Memory, total running pods, active nodes, and connected cluster status.</a:t>
            </a:r>
          </a:p>
        </p:txBody>
      </p:sp>
      <p:sp>
        <p:nvSpPr>
          <p:cNvPr id="11" name="Rounded Rectangle 10"/>
          <p:cNvSpPr/>
          <p:nvPr/>
        </p:nvSpPr>
        <p:spPr>
          <a:xfrm>
            <a:off x="4434840" y="2011680"/>
            <a:ext cx="3383280"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194560"/>
            <a:ext cx="2926080" cy="1600200"/>
          </a:xfrm>
          <a:prstGeom prst="rect">
            <a:avLst/>
          </a:prstGeom>
          <a:noFill/>
        </p:spPr>
        <p:txBody>
          <a:bodyPr wrap="square">
            <a:spAutoFit/>
          </a:bodyPr>
          <a:lstStyle/>
          <a:p>
            <a:pPr>
              <a:defRPr sz="1300" b="1">
                <a:solidFill>
                  <a:srgbClr val="382A24"/>
                </a:solidFill>
                <a:latin typeface="Helvetica Neue"/>
              </a:defRPr>
            </a:pPr>
            <a:r>
              <a:t>Live Notification Bell</a:t>
            </a:r>
          </a:p>
          <a:p>
            <a:pPr>
              <a:spcBef>
                <a:spcPts val="600"/>
              </a:spcBef>
              <a:defRPr sz="1000">
                <a:solidFill>
                  <a:srgbClr val="594941"/>
                </a:solidFill>
                <a:latin typeface="Helvetica Neue"/>
              </a:defRPr>
            </a:pPr>
            <a:r>
              <a:t>Displays a red badge count in the top bar as soon as any container crashes or restarts.</a:t>
            </a:r>
          </a:p>
        </p:txBody>
      </p:sp>
      <p:sp>
        <p:nvSpPr>
          <p:cNvPr id="13" name="Rounded Rectangle 12"/>
          <p:cNvSpPr/>
          <p:nvPr/>
        </p:nvSpPr>
        <p:spPr>
          <a:xfrm>
            <a:off x="8046720" y="2011680"/>
            <a:ext cx="3383280"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2194560"/>
            <a:ext cx="2926080" cy="1600200"/>
          </a:xfrm>
          <a:prstGeom prst="rect">
            <a:avLst/>
          </a:prstGeom>
          <a:noFill/>
        </p:spPr>
        <p:txBody>
          <a:bodyPr wrap="square">
            <a:spAutoFit/>
          </a:bodyPr>
          <a:lstStyle/>
          <a:p>
            <a:pPr>
              <a:defRPr sz="1300" b="1">
                <a:solidFill>
                  <a:srgbClr val="382A24"/>
                </a:solidFill>
                <a:latin typeface="Helvetica Neue"/>
              </a:defRPr>
            </a:pPr>
            <a:r>
              <a:t>Incident Center &amp; RCA</a:t>
            </a:r>
          </a:p>
          <a:p>
            <a:pPr>
              <a:spcBef>
                <a:spcPts val="600"/>
              </a:spcBef>
              <a:defRPr sz="1000">
                <a:solidFill>
                  <a:srgbClr val="594941"/>
                </a:solidFill>
                <a:latin typeface="Helvetica Neue"/>
              </a:defRPr>
            </a:pPr>
            <a:r>
              <a:t>Lists all active incidents with failure reason, severity, container crash logs, and investigation status.</a:t>
            </a:r>
          </a:p>
        </p:txBody>
      </p:sp>
      <p:sp>
        <p:nvSpPr>
          <p:cNvPr id="15" name="Rounded Rectangle 14"/>
          <p:cNvSpPr/>
          <p:nvPr/>
        </p:nvSpPr>
        <p:spPr>
          <a:xfrm>
            <a:off x="822960" y="4206240"/>
            <a:ext cx="3383280"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389120"/>
            <a:ext cx="2926080" cy="1600200"/>
          </a:xfrm>
          <a:prstGeom prst="rect">
            <a:avLst/>
          </a:prstGeom>
          <a:noFill/>
        </p:spPr>
        <p:txBody>
          <a:bodyPr wrap="square">
            <a:spAutoFit/>
          </a:bodyPr>
          <a:lstStyle/>
          <a:p>
            <a:pPr>
              <a:defRPr sz="1300" b="1">
                <a:solidFill>
                  <a:srgbClr val="382A24"/>
                </a:solidFill>
                <a:latin typeface="Helvetica Neue"/>
              </a:defRPr>
            </a:pPr>
            <a:r>
              <a:t>Log Explorer</a:t>
            </a:r>
          </a:p>
          <a:p>
            <a:pPr>
              <a:spcBef>
                <a:spcPts val="600"/>
              </a:spcBef>
              <a:defRPr sz="1000">
                <a:solidFill>
                  <a:srgbClr val="594941"/>
                </a:solidFill>
                <a:latin typeface="Helvetica Neue"/>
              </a:defRPr>
            </a:pPr>
            <a:r>
              <a:t>Streams actual terminal logs directly from any pod running in the Kubernetes cluster.</a:t>
            </a:r>
          </a:p>
        </p:txBody>
      </p:sp>
      <p:sp>
        <p:nvSpPr>
          <p:cNvPr id="17" name="Rounded Rectangle 16"/>
          <p:cNvSpPr/>
          <p:nvPr/>
        </p:nvSpPr>
        <p:spPr>
          <a:xfrm>
            <a:off x="4434840" y="4206240"/>
            <a:ext cx="3383280"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4389120"/>
            <a:ext cx="2926080" cy="1600200"/>
          </a:xfrm>
          <a:prstGeom prst="rect">
            <a:avLst/>
          </a:prstGeom>
          <a:noFill/>
        </p:spPr>
        <p:txBody>
          <a:bodyPr wrap="square">
            <a:spAutoFit/>
          </a:bodyPr>
          <a:lstStyle/>
          <a:p>
            <a:pPr>
              <a:defRPr sz="1300" b="1">
                <a:solidFill>
                  <a:srgbClr val="382A24"/>
                </a:solidFill>
                <a:latin typeface="Helvetica Neue"/>
              </a:defRPr>
            </a:pPr>
            <a:r>
              <a:t>Interactive AI Copilot</a:t>
            </a:r>
          </a:p>
          <a:p>
            <a:pPr>
              <a:spcBef>
                <a:spcPts val="600"/>
              </a:spcBef>
              <a:defRPr sz="1000">
                <a:solidFill>
                  <a:srgbClr val="594941"/>
                </a:solidFill>
                <a:latin typeface="Helvetica Neue"/>
              </a:defRPr>
            </a:pPr>
            <a:r>
              <a:t>Chat window where operators ask diagnostic questions and receive root-cause explanations with fixes.</a:t>
            </a:r>
          </a:p>
        </p:txBody>
      </p:sp>
      <p:sp>
        <p:nvSpPr>
          <p:cNvPr id="19" name="Rounded Rectangle 18"/>
          <p:cNvSpPr/>
          <p:nvPr/>
        </p:nvSpPr>
        <p:spPr>
          <a:xfrm>
            <a:off x="8046720" y="4206240"/>
            <a:ext cx="3383280" cy="196596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4389120"/>
            <a:ext cx="2926080" cy="1600200"/>
          </a:xfrm>
          <a:prstGeom prst="rect">
            <a:avLst/>
          </a:prstGeom>
          <a:noFill/>
        </p:spPr>
        <p:txBody>
          <a:bodyPr wrap="square">
            <a:spAutoFit/>
          </a:bodyPr>
          <a:lstStyle/>
          <a:p>
            <a:pPr>
              <a:defRPr sz="1300" b="1">
                <a:solidFill>
                  <a:srgbClr val="382A24"/>
                </a:solidFill>
                <a:latin typeface="Helvetica Neue"/>
              </a:defRPr>
            </a:pPr>
            <a:r>
              <a:t>Telemetry Resource Charts</a:t>
            </a:r>
          </a:p>
          <a:p>
            <a:pPr>
              <a:spcBef>
                <a:spcPts val="600"/>
              </a:spcBef>
              <a:defRPr sz="1000">
                <a:solidFill>
                  <a:srgbClr val="594941"/>
                </a:solidFill>
                <a:latin typeface="Helvetica Neue"/>
              </a:defRPr>
            </a:pPr>
            <a:r>
              <a:t>Interactive graphs showing CPU, Memory, Network, and Disk usage across 1h, 6h, and 24h ranges.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3" name="Rounded Rectangle 2"/>
          <p:cNvSpPr/>
          <p:nvPr/>
        </p:nvSpPr>
        <p:spPr>
          <a:xfrm>
            <a:off x="9601200" y="365760"/>
            <a:ext cx="2011680" cy="36576"/>
          </a:xfrm>
          <a:prstGeom prst="round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02920"/>
            <a:ext cx="10515600" cy="274320"/>
          </a:xfrm>
          <a:prstGeom prst="rect">
            <a:avLst/>
          </a:prstGeom>
          <a:noFill/>
        </p:spPr>
        <p:txBody>
          <a:bodyPr wrap="square" lIns="0" tIns="0" rIns="0" bIns="0">
            <a:spAutoFit/>
          </a:bodyPr>
          <a:lstStyle/>
          <a:p>
            <a:pPr>
              <a:defRPr sz="950" b="1">
                <a:solidFill>
                  <a:srgbClr val="D97B4E"/>
                </a:solidFill>
                <a:latin typeface="Helvetica Neue"/>
              </a:defRPr>
            </a:pPr>
            <a:r>
              <a:t>09 / SUMMARY</a:t>
            </a:r>
          </a:p>
        </p:txBody>
      </p:sp>
      <p:sp>
        <p:nvSpPr>
          <p:cNvPr id="6" name="TextBox 5"/>
          <p:cNvSpPr txBox="1"/>
          <p:nvPr/>
        </p:nvSpPr>
        <p:spPr>
          <a:xfrm>
            <a:off x="822960" y="777240"/>
            <a:ext cx="10515600" cy="548640"/>
          </a:xfrm>
          <a:prstGeom prst="rect">
            <a:avLst/>
          </a:prstGeom>
          <a:noFill/>
        </p:spPr>
        <p:txBody>
          <a:bodyPr wrap="square" lIns="0" tIns="0" rIns="0" bIns="0">
            <a:spAutoFit/>
          </a:bodyPr>
          <a:lstStyle/>
          <a:p>
            <a:pPr>
              <a:defRPr sz="2200" b="1">
                <a:solidFill>
                  <a:srgbClr val="382A24"/>
                </a:solidFill>
                <a:latin typeface="Helvetica Neue"/>
              </a:defRPr>
            </a:pPr>
            <a:r>
              <a:t>Conclusion &amp; Project Summary</a:t>
            </a:r>
          </a:p>
        </p:txBody>
      </p:sp>
      <p:sp>
        <p:nvSpPr>
          <p:cNvPr id="7" name="TextBox 6"/>
          <p:cNvSpPr txBox="1"/>
          <p:nvPr/>
        </p:nvSpPr>
        <p:spPr>
          <a:xfrm>
            <a:off x="822960" y="1353312"/>
            <a:ext cx="10515600" cy="320040"/>
          </a:xfrm>
          <a:prstGeom prst="rect">
            <a:avLst/>
          </a:prstGeom>
          <a:noFill/>
        </p:spPr>
        <p:txBody>
          <a:bodyPr wrap="square" lIns="0" tIns="0" rIns="0" bIns="0">
            <a:spAutoFit/>
          </a:bodyPr>
          <a:lstStyle/>
          <a:p>
            <a:pPr>
              <a:defRPr sz="1200">
                <a:solidFill>
                  <a:srgbClr val="594941"/>
                </a:solidFill>
                <a:latin typeface="Helvetica Neue"/>
              </a:defRPr>
            </a:pPr>
            <a:r>
              <a:t>KubeMind proves that AI-assisted Kubernetes troubleshooting is feasible, fast, and works with real data.</a:t>
            </a:r>
          </a:p>
        </p:txBody>
      </p:sp>
      <p:sp>
        <p:nvSpPr>
          <p:cNvPr id="8" name="Rectangle 7"/>
          <p:cNvSpPr/>
          <p:nvPr/>
        </p:nvSpPr>
        <p:spPr>
          <a:xfrm>
            <a:off x="822960" y="1737360"/>
            <a:ext cx="10545775" cy="13716"/>
          </a:xfrm>
          <a:prstGeom prst="rect">
            <a:avLst/>
          </a:prstGeom>
          <a:solidFill>
            <a:srgbClr val="E4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2011680"/>
            <a:ext cx="5150815" cy="4297680"/>
          </a:xfrm>
          <a:prstGeom prst="roundRect">
            <a:avLst/>
          </a:prstGeom>
          <a:solidFill>
            <a:srgbClr val="F3EFE9"/>
          </a:solidFill>
          <a:ln w="12700">
            <a:solidFill>
              <a:srgbClr val="E4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194560"/>
            <a:ext cx="4572000" cy="3931920"/>
          </a:xfrm>
          <a:prstGeom prst="rect">
            <a:avLst/>
          </a:prstGeom>
          <a:noFill/>
        </p:spPr>
        <p:txBody>
          <a:bodyPr wrap="square">
            <a:spAutoFit/>
          </a:bodyPr>
          <a:lstStyle/>
          <a:p>
            <a:pPr>
              <a:defRPr sz="1500" b="1">
                <a:solidFill>
                  <a:srgbClr val="382A24"/>
                </a:solidFill>
                <a:latin typeface="Helvetica Neue"/>
              </a:defRPr>
            </a:pPr>
            <a:r>
              <a:t>Summary of What We Achieved</a:t>
            </a:r>
          </a:p>
          <a:p>
            <a:pPr>
              <a:spcBef>
                <a:spcPts val="800"/>
              </a:spcBef>
              <a:defRPr sz="1050">
                <a:solidFill>
                  <a:srgbClr val="594941"/>
                </a:solidFill>
                <a:latin typeface="Helvetica Neue"/>
              </a:defRPr>
            </a:pPr>
            <a:r>
              <a:t>✔  Answered Mentor Feedback: No more fake test data. Everything on screen comes from a real Kubernetes cluster and Prometheus scraper.</a:t>
            </a:r>
          </a:p>
          <a:p>
            <a:pPr>
              <a:spcBef>
                <a:spcPts val="800"/>
              </a:spcBef>
              <a:defRPr sz="1050">
                <a:solidFill>
                  <a:srgbClr val="594941"/>
                </a:solidFill>
                <a:latin typeface="Helvetica Neue"/>
              </a:defRPr>
            </a:pPr>
            <a:r>
              <a:t>✔  Proved Feasibility: The entire stack is lightweight (&lt; 500MB RAM), fast (sub-second telemetry), and runs easily on a student laptop.</a:t>
            </a:r>
          </a:p>
          <a:p>
            <a:pPr>
              <a:spcBef>
                <a:spcPts val="800"/>
              </a:spcBef>
              <a:defRPr sz="1050">
                <a:solidFill>
                  <a:srgbClr val="594941"/>
                </a:solidFill>
                <a:latin typeface="Helvetica Neue"/>
              </a:defRPr>
            </a:pPr>
            <a:r>
              <a:t>✔  Full End-to-End System: Includes Frontend UI, Backend API, Prometheus monitoring, incident tracking, and an AI diagnostic agent.</a:t>
            </a:r>
          </a:p>
          <a:p>
            <a:pPr>
              <a:spcBef>
                <a:spcPts val="800"/>
              </a:spcBef>
              <a:defRPr sz="1050">
                <a:solidFill>
                  <a:srgbClr val="594941"/>
                </a:solidFill>
                <a:latin typeface="Helvetica Neue"/>
              </a:defRPr>
            </a:pPr>
            <a:r>
              <a:t>✔  Ready for Live Demo: Reviewers can run 'kubectl run' in terminal, crash a pod, and see the notification appear live on screen.</a:t>
            </a:r>
          </a:p>
        </p:txBody>
      </p:sp>
      <p:sp>
        <p:nvSpPr>
          <p:cNvPr id="11" name="Rounded Rectangle 10"/>
          <p:cNvSpPr/>
          <p:nvPr/>
        </p:nvSpPr>
        <p:spPr>
          <a:xfrm>
            <a:off x="6217920" y="2011680"/>
            <a:ext cx="5150815" cy="4297680"/>
          </a:xfrm>
          <a:prstGeom prst="roundRect">
            <a:avLst/>
          </a:prstGeom>
          <a:solidFill>
            <a:srgbClr val="F5EEE8"/>
          </a:solidFill>
          <a:ln w="12700">
            <a:solidFill>
              <a:srgbClr val="D97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560320"/>
            <a:ext cx="4572000" cy="3200400"/>
          </a:xfrm>
          <a:prstGeom prst="rect">
            <a:avLst/>
          </a:prstGeom>
          <a:noFill/>
        </p:spPr>
        <p:txBody>
          <a:bodyPr wrap="square">
            <a:spAutoFit/>
          </a:bodyPr>
          <a:lstStyle/>
          <a:p>
            <a:pPr algn="ctr">
              <a:defRPr sz="2800" b="1">
                <a:solidFill>
                  <a:srgbClr val="382A24"/>
                </a:solidFill>
                <a:latin typeface="Helvetica Neue"/>
              </a:defRPr>
            </a:pPr>
            <a:r>
              <a:t>THANK YOU</a:t>
            </a:r>
          </a:p>
          <a:p>
            <a:pPr algn="ctr">
              <a:spcBef>
                <a:spcPts val="600"/>
              </a:spcBef>
              <a:defRPr sz="1400">
                <a:solidFill>
                  <a:srgbClr val="D97B4E"/>
                </a:solidFill>
                <a:latin typeface="Helvetica Neue"/>
              </a:defRPr>
            </a:pPr>
            <a:r>
              <a:t>Open for Questions &amp; Live Demonstration</a:t>
            </a:r>
          </a:p>
          <a:p>
            <a:pPr algn="ctr">
              <a:spcBef>
                <a:spcPts val="1600"/>
              </a:spcBef>
              <a:defRPr sz="1100">
                <a:solidFill>
                  <a:srgbClr val="594941"/>
                </a:solidFill>
                <a:latin typeface="Helvetica Neue"/>
              </a:defRPr>
            </a:pPr>
            <a:r>
              <a:t>We are ready to demonstrate the live cluster,</a:t>
            </a:r>
            <a:br/>
            <a:r>
              <a:t>crash a pod in terminal, and show the AI diagnosis on screen.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1783</Words>
  <Application>Microsoft Macintosh PowerPoint</Application>
  <PresentationFormat>Widescreen</PresentationFormat>
  <Paragraphs>134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Microsoft Office User</cp:lastModifiedBy>
  <cp:revision>3</cp:revision>
  <dcterms:created xsi:type="dcterms:W3CDTF">2013-01-27T09:14:16Z</dcterms:created>
  <dcterms:modified xsi:type="dcterms:W3CDTF">2026-10-08T06:58:13Z</dcterms:modified>
  <cp:category/>
</cp:coreProperties>
</file>